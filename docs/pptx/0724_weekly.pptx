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897" r:id="rId2"/>
    <p:sldId id="258" r:id="rId3"/>
    <p:sldId id="895" r:id="rId4"/>
    <p:sldId id="900" r:id="rId5"/>
    <p:sldId id="901" r:id="rId6"/>
  </p:sldIdLst>
  <p:sldSz cx="12192000" cy="6858000"/>
  <p:notesSz cx="6858000" cy="9144000"/>
  <p:embeddedFontLst>
    <p:embeddedFont>
      <p:font typeface="等线" panose="02010600030101010101" pitchFamily="2" charset="-122"/>
      <p:regular r:id="rId8"/>
      <p:bold r:id="rId9"/>
    </p:embeddedFont>
    <p:embeddedFont>
      <p:font typeface="等线" panose="02010600030101010101" pitchFamily="2" charset="-122"/>
      <p:regular r:id="rId8"/>
      <p:bold r:id="rId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001"/>
    <a:srgbClr val="921E24"/>
    <a:srgbClr val="911E22"/>
    <a:srgbClr val="921E23"/>
    <a:srgbClr val="7F161B"/>
    <a:srgbClr val="9A0000"/>
    <a:srgbClr val="7E1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44"/>
    <p:restoredTop sz="96234"/>
  </p:normalViewPr>
  <p:slideViewPr>
    <p:cSldViewPr snapToGrid="0" showGuides="1">
      <p:cViewPr varScale="1">
        <p:scale>
          <a:sx n="117" d="100"/>
          <a:sy n="117" d="100"/>
        </p:scale>
        <p:origin x="192" y="328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BE914-D620-9442-BCCD-51707B6F90D2}" type="datetimeFigureOut">
              <a:rPr kumimoji="1" lang="zh-CN" altLang="en-US" smtClean="0"/>
              <a:t>2026/7/24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A0AB4E-63C4-9548-A330-CCCE1C9D77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273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AAC52-7258-B645-BBF1-68DD2A223B28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945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44A8-1B65-563D-5C90-CBDB806F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B3BED-9E74-C9AE-42BC-4EA99F54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2732F-5B0E-822C-FCCB-26D3CF35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14D08-382A-13B7-3DF6-735DB3D7A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AAC52-7258-B645-BBF1-68DD2A223B28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769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8B46-3A3D-ECE6-B67A-D2A734D3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39B55-8D6B-73EB-4FE4-CC95FDA4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636B6-497A-FF92-81AB-D11B7C1CF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6B6A8-7779-8530-5AD3-ED6E0F26C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AAC52-7258-B645-BBF1-68DD2A223B28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3207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3833-A055-146B-4A5F-A62E970A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F4F38-1423-B1C7-D963-9EE3638EB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0128A-3266-C96B-0C82-AE6E38576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1364E-9202-4C9B-A8A8-A92DBAFC5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AAC52-7258-B645-BBF1-68DD2A223B28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64111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CEEB7-ABFB-471A-ADCB-495EC779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60A374-5374-4DDE-BCA0-F0740290B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1093D-015E-4F6E-8FFA-620396DA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692D-96D6-4841-AB7E-BF0665E5A7FA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AFF19-A4AA-4C08-AEB5-36C651342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EBA11-CF3F-46CB-9E67-695AB0C2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71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DA1FB-A6CF-4F76-8049-BFB2F800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7DE5A-76BA-446E-8F45-665685A36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5D23D-1F2E-43CC-959A-2F9241D6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26C33-C844-1040-830D-297E92BB3192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B78137-32AC-4F0B-B91B-24C22D1F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BDE78-357B-4977-B26A-818FF5A5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20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3D76B-92A8-4C52-830C-D56F7073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7E3D6-A48E-4708-B327-6759957DD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C38F0-1F91-4E42-ADB1-51684747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B84F-1005-6E4B-9573-5A1B58A2B110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5CC766-4152-4E01-9D95-7BF4B583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DEEDF-5F1C-42A5-8DBF-979D3DED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448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0416E-FF30-47C2-BFFD-94BCFABB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9A159-EE3E-49BA-8F5A-5C677623E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5CD34D-853C-4A1A-BF39-4BCB0873E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556450-DCFA-4338-A456-832AF681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E26BE-5A92-D14A-8929-109C2BD0FDE3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563404-138D-4283-8B43-BACAA250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2B1F88-82F6-4E65-B5AE-C37C849C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3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8A563-9746-4325-91CC-726B0B12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FA948-7E2D-43B7-B415-9BB51AF65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11B11E-09C3-462F-AA36-7C78774D7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409D6A-7BF1-42B6-8FF2-7C3B6FC3C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5E20E0-6A63-4EA5-8809-875E3EB2E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A4436E-E434-49DA-AEF5-E960C0C1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C165-A4EE-3944-A2EF-472EC2483CE3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B35480-CA15-4195-A88A-946DBACC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5FC85C-6FD3-444A-9A5E-01032472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79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6EE34-A494-4648-8C0D-B864BE21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1EBD94-5A0F-4251-B472-66C07100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38E3-A3B1-ED4F-8C99-47C73F4376D8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0A38D9-ACDD-49C4-9501-C93603C9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1F7F38-D4DA-4237-9BC5-395BC82D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76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3D695F-240D-4EEA-B341-A92087FD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65F6-8F9A-E34E-B31E-3465AA6795FC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E93584-CF6E-41AA-AC1E-FE90E718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7906E4-8376-4F8E-A6EB-D813FFE4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6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64DDB-4F66-4393-BA92-8D147715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76F15F-E333-4669-AF0F-FF818992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7B6901-09D9-4789-8C40-AC9EE7EDC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EFF1E8-CB7D-411B-99F9-244F27EA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F43A1-3A0C-6B4F-9D55-0194E3CD9414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843332-3FF6-407E-8B2A-764F7239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800C51-ED80-409C-A7AE-E2DEB864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3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3AED8-409F-47F4-B2E8-A9AC4B46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B673F9-AE70-47BB-839B-372EBC833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56FCDE-73AF-471F-9517-89446524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D6181D-BB61-4BA6-A04D-96E6F2B0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B576-144C-4A4D-96BA-72B1A73C317E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CFB3EC-9BD2-470A-973A-BE1E8895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92810E-1BD3-475A-820E-19DEA89F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85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AB714-989B-4D33-96F4-2B445283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C4C592-EABB-4648-8153-C80FE8945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C75BF-C3D3-40E2-8133-D4FA0E71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8F8F-B881-2842-8A20-BE77002EF3E0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C0A3E-3434-460A-95AF-5F0A4E45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DE8E57-6EED-4028-B7F6-12E4FC88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0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2B1054-3E4A-43AB-A740-8FA5AE4A9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064617-66C9-4610-96EB-8DBD7A0D9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C5F1B-212A-4649-8623-6A8B3057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D4E-3BCD-8745-B5E0-812F3E81EBA4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74AC5-DCB6-49A6-B821-A2D260FF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CB4E1-0513-46F6-804A-623F7D78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19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Agenda Topics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5095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7A12CD-6626-4F81-B688-359DD39A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2A76FF-F722-4DB7-B8FF-A16B53FA7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89D61-C05E-420B-AC27-0FE432C2D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14F0C-B1F7-0946-A1E9-326F6565EECC}" type="datetime1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61EF9-BD67-4F65-85E3-294983312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D4C3E-B700-476A-B03C-473960E0A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5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tima" panose="0200050306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tima" panose="0200050306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tima" panose="0200050306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tima" panose="0200050306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tima" panose="0200050306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tima" panose="0200050306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67205" y="2399285"/>
            <a:ext cx="11690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400" b="1" dirty="0">
                <a:latin typeface="Times New Roman" panose="02000503060000020004" pitchFamily="2" charset="0"/>
                <a:cs typeface="Arial" panose="020B0604020202020204" pitchFamily="34" charset="0"/>
              </a:rPr>
              <a:t>RL</a:t>
            </a:r>
            <a:r>
              <a:rPr kumimoji="1" lang="zh-CN" altLang="en-US" sz="4400" b="1" dirty="0">
                <a:latin typeface="Times New Roman" panose="02000503060000020004" pitchFamily="2" charset="0"/>
                <a:cs typeface="Arial" panose="020B0604020202020204" pitchFamily="34" charset="0"/>
              </a:rPr>
              <a:t>训练中的训推一致问题</a:t>
            </a:r>
            <a:endParaRPr lang="zh-CN" altLang="en-US" sz="3600" dirty="0">
              <a:latin typeface="Optima" panose="02000503060000020004" pitchFamily="2" charset="0"/>
              <a:ea typeface="Song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ED25B996-D782-B149-173D-9D1192BA7F48}"/>
              </a:ext>
            </a:extLst>
          </p:cNvPr>
          <p:cNvCxnSpPr>
            <a:cxnSpLocks/>
          </p:cNvCxnSpPr>
          <p:nvPr/>
        </p:nvCxnSpPr>
        <p:spPr>
          <a:xfrm>
            <a:off x="887506" y="3407065"/>
            <a:ext cx="9937376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1000">
                  <a:schemeClr val="accent1">
                    <a:lumMod val="45000"/>
                    <a:lumOff val="55000"/>
                    <a:alpha val="73083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3DE996B-4DCC-739B-85F7-6E5F35FEE9EB}"/>
              </a:ext>
            </a:extLst>
          </p:cNvPr>
          <p:cNvSpPr txBox="1"/>
          <p:nvPr/>
        </p:nvSpPr>
        <p:spPr>
          <a:xfrm>
            <a:off x="228181" y="3645405"/>
            <a:ext cx="11256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Times New Roman" panose="02000503060000020004" pitchFamily="2" charset="0"/>
                <a:ea typeface="Songti SC" panose="02010600040101010101" pitchFamily="2" charset="-122"/>
                <a:cs typeface="Arial" panose="020B0604020202020204" pitchFamily="34" charset="0"/>
              </a:rPr>
              <a:t>Ran Yan</a:t>
            </a:r>
            <a:endParaRPr lang="zh-CN" altLang="en-US" sz="2800" dirty="0">
              <a:latin typeface="Optima" panose="02000503060000020004" pitchFamily="2" charset="0"/>
              <a:ea typeface="Songti SC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Codex Page Number 1"/>
          <p:cNvSpPr txBox="1"/>
          <p:nvPr/>
        </p:nvSpPr>
        <p:spPr>
          <a:xfrm>
            <a:off x="11963176" y="6498373"/>
            <a:ext cx="128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2000" dirty="0">
                <a:solidFill>
                  <a:srgbClr val="777777"/>
                </a:solidFill>
                <a:latin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873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mazing Progress of ML/AI"/>
          <p:cNvSpPr txBox="1">
            <a:spLocks noGrp="1"/>
          </p:cNvSpPr>
          <p:nvPr>
            <p:ph type="title"/>
          </p:nvPr>
        </p:nvSpPr>
        <p:spPr>
          <a:xfrm>
            <a:off x="566985" y="234287"/>
            <a:ext cx="8531268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PPO主要计算流程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07A7A8B-FC4B-71F5-FCCE-0D5E8112BBD4}"/>
              </a:ext>
            </a:extLst>
          </p:cNvPr>
          <p:cNvSpPr txBox="1">
            <a:spLocks/>
          </p:cNvSpPr>
          <p:nvPr/>
        </p:nvSpPr>
        <p:spPr>
          <a:xfrm>
            <a:off x="1039425" y="3971258"/>
            <a:ext cx="9883301" cy="3485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阶段使用了不同的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实现，导致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inference_logp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recompute_logp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出现精度差异。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训推精度误差会对梯度估计引入偏差、拖慢训练收敛。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[1-3]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recompute_logp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可以在训练侧统一精度，但带来额外计算负担，且不能完全解决训推不一致问题。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D72623E8-D134-4EC2-2E3D-9FD6CB4F922C}"/>
              </a:ext>
            </a:extLst>
          </p:cNvPr>
          <p:cNvSpPr txBox="1"/>
          <p:nvPr/>
        </p:nvSpPr>
        <p:spPr>
          <a:xfrm>
            <a:off x="1269274" y="1470418"/>
            <a:ext cx="1143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Menlo"/>
              </a:defRPr>
            </a:pPr>
            <a:r>
              <a:rPr sz="1400" dirty="0"/>
              <a:t>INFERENCE         TRAJECTORY              TRAINING                   LOSS</a:t>
            </a:r>
            <a:br>
              <a:rPr sz="1400" dirty="0"/>
            </a:br>
            <a:r>
              <a:rPr sz="1400" dirty="0"/>
              <a:t>═══════════      ════════════════    ═══════════════════      </a:t>
            </a:r>
            <a:r>
              <a:rPr lang="en-US" sz="1400" dirty="0"/>
              <a:t>    </a:t>
            </a:r>
            <a:r>
              <a:rPr sz="1400" dirty="0"/>
              <a:t>══════════</a:t>
            </a:r>
            <a:br>
              <a:rPr sz="1400" dirty="0"/>
            </a:br>
            <a:br>
              <a:rPr sz="1400" dirty="0"/>
            </a:br>
            <a:r>
              <a:rPr sz="1400" dirty="0"/>
              <a:t> prompt            trajectory      </a:t>
            </a:r>
            <a:r>
              <a:rPr lang="en-US" sz="1400" dirty="0"/>
              <a:t>    </a:t>
            </a:r>
            <a:r>
              <a:rPr sz="1400" dirty="0"/>
              <a:t>[Model </a:t>
            </a:r>
            <a:r>
              <a:rPr sz="1400" dirty="0" err="1"/>
              <a:t>Fwd</a:t>
            </a:r>
            <a:r>
              <a:rPr sz="1400" dirty="0"/>
              <a:t> (</a:t>
            </a:r>
            <a:r>
              <a:rPr lang="en-US" sz="1400" dirty="0"/>
              <a:t>on </a:t>
            </a:r>
            <a:r>
              <a:rPr lang="en-US" sz="1400" dirty="0" err="1"/>
              <a:t>traj</a:t>
            </a:r>
            <a:r>
              <a:rPr sz="1400" dirty="0"/>
              <a:t>)]      </a:t>
            </a:r>
            <a:r>
              <a:rPr sz="1400" dirty="0" err="1"/>
              <a:t>ppo_loss_fn</a:t>
            </a:r>
            <a:br>
              <a:rPr sz="1400" dirty="0"/>
            </a:br>
            <a:r>
              <a:rPr sz="1400" dirty="0"/>
              <a:t>   ↓             = prompt ⊕ answer        </a:t>
            </a:r>
            <a:r>
              <a:rPr lang="en-US" sz="1400" dirty="0"/>
              <a:t>    </a:t>
            </a:r>
            <a:r>
              <a:rPr sz="1400" dirty="0"/>
              <a:t>↓                       </a:t>
            </a:r>
            <a:r>
              <a:rPr lang="en-US" sz="1400" dirty="0"/>
              <a:t> </a:t>
            </a:r>
            <a:r>
              <a:rPr sz="1400" dirty="0"/>
              <a:t>↑</a:t>
            </a:r>
            <a:br>
              <a:rPr sz="1400" dirty="0"/>
            </a:br>
            <a:r>
              <a:rPr sz="1400" dirty="0"/>
              <a:t>[Inference]            │            </a:t>
            </a:r>
            <a:r>
              <a:rPr lang="en-US" sz="1400" dirty="0"/>
              <a:t>    </a:t>
            </a:r>
            <a:r>
              <a:rPr sz="1400" dirty="0" err="1"/>
              <a:t>recompute_logp</a:t>
            </a:r>
            <a:r>
              <a:rPr sz="1400" dirty="0"/>
              <a:t> </a:t>
            </a:r>
            <a:r>
              <a:rPr lang="en-US" sz="1400" dirty="0"/>
              <a:t> </a:t>
            </a:r>
            <a:r>
              <a:rPr sz="1400" dirty="0"/>
              <a:t>──┄┄┄┄┄▸ ┌─────┴─────┐</a:t>
            </a:r>
            <a:br>
              <a:rPr sz="1400" dirty="0"/>
            </a:br>
            <a:r>
              <a:rPr sz="1400" dirty="0"/>
              <a:t> ├── </a:t>
            </a:r>
            <a:r>
              <a:rPr sz="1400" dirty="0" err="1"/>
              <a:t>inference_logp</a:t>
            </a:r>
            <a:r>
              <a:rPr sz="1400" dirty="0"/>
              <a:t>    │                                    </a:t>
            </a:r>
            <a:r>
              <a:rPr lang="en-US" sz="1400" dirty="0"/>
              <a:t>     </a:t>
            </a:r>
            <a:r>
              <a:rPr sz="1400" dirty="0"/>
              <a:t>│</a:t>
            </a:r>
            <a:r>
              <a:rPr sz="1400" dirty="0" err="1"/>
              <a:t>recomp_logp</a:t>
            </a:r>
            <a:r>
              <a:rPr sz="1400" dirty="0"/>
              <a:t>│</a:t>
            </a:r>
            <a:br>
              <a:rPr sz="1400" dirty="0"/>
            </a:br>
            <a:r>
              <a:rPr sz="1400" dirty="0"/>
              <a:t> │    (discarded)      │       </a:t>
            </a:r>
            <a:r>
              <a:rPr lang="en-US" sz="1400" dirty="0"/>
              <a:t>       </a:t>
            </a:r>
            <a:r>
              <a:rPr sz="1400" dirty="0"/>
              <a:t>[Model </a:t>
            </a:r>
            <a:r>
              <a:rPr sz="1400" dirty="0" err="1"/>
              <a:t>Fwd</a:t>
            </a:r>
            <a:r>
              <a:rPr sz="1400" dirty="0"/>
              <a:t> (policy)]       │ </a:t>
            </a:r>
            <a:r>
              <a:rPr sz="1400" dirty="0" err="1"/>
              <a:t>train_logp</a:t>
            </a:r>
            <a:r>
              <a:rPr sz="1400" dirty="0"/>
              <a:t>│</a:t>
            </a:r>
            <a:br>
              <a:rPr sz="1400" dirty="0"/>
            </a:br>
            <a:r>
              <a:rPr sz="1400" dirty="0"/>
              <a:t> └── answer ───────────┘               </a:t>
            </a:r>
            <a:r>
              <a:rPr lang="en-US" sz="1400" dirty="0"/>
              <a:t>       </a:t>
            </a:r>
            <a:r>
              <a:rPr sz="1400" dirty="0"/>
              <a:t>↓                  └─────┬─────┘</a:t>
            </a:r>
            <a:br>
              <a:rPr sz="1400" dirty="0"/>
            </a:br>
            <a:r>
              <a:rPr sz="1400" dirty="0"/>
              <a:t>                                  </a:t>
            </a:r>
            <a:r>
              <a:rPr lang="en-US" sz="1400" dirty="0"/>
              <a:t>        </a:t>
            </a:r>
            <a:r>
              <a:rPr sz="1400" dirty="0" err="1"/>
              <a:t>train_logp</a:t>
            </a:r>
            <a:r>
              <a:rPr sz="1400" dirty="0"/>
              <a:t> </a:t>
            </a:r>
            <a:r>
              <a:rPr lang="en-US" sz="1400" dirty="0"/>
              <a:t> </a:t>
            </a:r>
            <a:r>
              <a:rPr sz="1400" dirty="0"/>
              <a:t>──┄┄┄┄┄┄┄▸       ↓</a:t>
            </a:r>
            <a:br>
              <a:rPr sz="1400" dirty="0"/>
            </a:br>
            <a:r>
              <a:rPr sz="1400" dirty="0"/>
              <a:t>                                                              </a:t>
            </a:r>
            <a:r>
              <a:rPr lang="en-US" sz="1400" dirty="0"/>
              <a:t>      </a:t>
            </a:r>
            <a:r>
              <a:rPr sz="1400" dirty="0"/>
              <a:t>[Loss]</a:t>
            </a:r>
            <a:br>
              <a:rPr sz="1400" dirty="0"/>
            </a:br>
            <a:r>
              <a:rPr sz="1400" dirty="0"/>
              <a:t>                                                          </a:t>
            </a:r>
            <a:r>
              <a:rPr lang="en-US" sz="1400" dirty="0"/>
              <a:t>        </a:t>
            </a:r>
            <a:r>
              <a:rPr sz="1400" dirty="0"/>
              <a:t>▲ ∇ backprop</a:t>
            </a:r>
          </a:p>
        </p:txBody>
      </p:sp>
      <p:sp>
        <p:nvSpPr>
          <p:cNvPr id="2" name="Codex Page Number 1">
            <a:extLst>
              <a:ext uri="{FF2B5EF4-FFF2-40B4-BE49-F238E27FC236}">
                <a16:creationId xmlns:a16="http://schemas.microsoft.com/office/drawing/2014/main" id="{CCD69604-A517-B405-AC28-FDD7209098EE}"/>
              </a:ext>
            </a:extLst>
          </p:cNvPr>
          <p:cNvSpPr txBox="1"/>
          <p:nvPr/>
        </p:nvSpPr>
        <p:spPr>
          <a:xfrm>
            <a:off x="11963176" y="6498373"/>
            <a:ext cx="128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altLang="zh-CN" sz="2000" dirty="0">
                <a:solidFill>
                  <a:srgbClr val="777777"/>
                </a:solidFill>
                <a:latin typeface="Times New Roman"/>
              </a:rPr>
              <a:t>2</a:t>
            </a:r>
            <a:endParaRPr sz="2000" dirty="0">
              <a:solidFill>
                <a:srgbClr val="777777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3653-3033-6FC2-1A2D-C58BAC32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mazing Progress of ML/AI">
            <a:extLst>
              <a:ext uri="{FF2B5EF4-FFF2-40B4-BE49-F238E27FC236}">
                <a16:creationId xmlns:a16="http://schemas.microsoft.com/office/drawing/2014/main" id="{D7648C49-EC3C-7D3D-F494-D5E2EC91BC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85" y="234287"/>
            <a:ext cx="8531268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Kernel层面保持训推精度一致的方法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0AF0A8-0039-BEAE-365E-CC5AA87DB678}"/>
              </a:ext>
            </a:extLst>
          </p:cNvPr>
          <p:cNvSpPr txBox="1">
            <a:spLocks/>
          </p:cNvSpPr>
          <p:nvPr/>
        </p:nvSpPr>
        <p:spPr>
          <a:xfrm>
            <a:off x="1393834" y="5048610"/>
            <a:ext cx="9883301" cy="1780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主流的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实现，例如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模块，在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阶段采用了不同的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实现。例如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FlashInfer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使用了不同的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层面保持精度需要确保每一次运算（例如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）保持相同的顺序。需要确保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策略完全一致。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98906AD-CD58-AE87-D334-B67A02EFDBD8}"/>
              </a:ext>
            </a:extLst>
          </p:cNvPr>
          <p:cNvSpPr txBox="1"/>
          <p:nvPr/>
        </p:nvSpPr>
        <p:spPr>
          <a:xfrm>
            <a:off x="849084" y="1352519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enlo"/>
              </a:defRPr>
            </a:pPr>
            <a:r>
              <a:rPr sz="1400" dirty="0"/>
              <a:t>       PREFILL (FA3 reference)                          DECODE (</a:t>
            </a:r>
            <a:r>
              <a:rPr sz="1400" dirty="0" err="1"/>
              <a:t>FlashInfer</a:t>
            </a:r>
            <a:r>
              <a:rPr sz="1400" dirty="0"/>
              <a:t> reference)</a:t>
            </a:r>
            <a:br>
              <a:rPr sz="1400" dirty="0"/>
            </a:br>
            <a:r>
              <a:rPr sz="1400" dirty="0"/>
              <a:t>      ═══════════════════════════════              ═══════════════════════════════════</a:t>
            </a:r>
            <a:br>
              <a:rPr sz="1400" dirty="0"/>
            </a:br>
            <a:br>
              <a:rPr sz="1400" dirty="0"/>
            </a:br>
            <a:r>
              <a:rPr sz="1400" dirty="0"/>
              <a:t>       tile:   Br × </a:t>
            </a:r>
            <a:r>
              <a:rPr sz="1400" dirty="0" err="1"/>
              <a:t>Bc</a:t>
            </a:r>
            <a:r>
              <a:rPr sz="1400" dirty="0"/>
              <a:t> = 128 × 128               tile:   Br' × </a:t>
            </a:r>
            <a:r>
              <a:rPr sz="1400" dirty="0" err="1"/>
              <a:t>Bc</a:t>
            </a:r>
            <a:r>
              <a:rPr sz="1400" dirty="0"/>
              <a:t>' = 1 × 64</a:t>
            </a:r>
            <a:br>
              <a:rPr sz="1400" dirty="0"/>
            </a:br>
            <a:r>
              <a:rPr sz="1400" dirty="0"/>
              <a:t>       QK dot:    k-major, 128-element dot        QK dot:    k-major, 64-element dot</a:t>
            </a:r>
            <a:br>
              <a:rPr sz="1400" dirty="0"/>
            </a:br>
            <a:r>
              <a:rPr sz="1400" dirty="0"/>
              <a:t>       </a:t>
            </a:r>
            <a:r>
              <a:rPr sz="1400" dirty="0" err="1"/>
              <a:t>softmax</a:t>
            </a:r>
            <a:r>
              <a:rPr sz="1400" dirty="0"/>
              <a:t>:   rescale every 128 cols          </a:t>
            </a:r>
            <a:r>
              <a:rPr sz="1400" dirty="0" err="1"/>
              <a:t>softmax</a:t>
            </a:r>
            <a:r>
              <a:rPr sz="1400" dirty="0"/>
              <a:t>:   rescale every 64 cols</a:t>
            </a:r>
            <a:br>
              <a:rPr sz="1400" dirty="0"/>
            </a:br>
            <a:r>
              <a:rPr sz="1400" dirty="0"/>
              <a:t>       PV:        row-major, 128-row blocks       PV:        row-major, single-row blocks</a:t>
            </a:r>
            <a:br>
              <a:rPr sz="1400" dirty="0"/>
            </a:br>
            <a:br>
              <a:rPr sz="1400" dirty="0"/>
            </a:br>
            <a:r>
              <a:rPr sz="1400" dirty="0"/>
              <a:t>       Our kernel = ONE implementation, TWO modes:</a:t>
            </a:r>
            <a:br>
              <a:rPr sz="1400" dirty="0"/>
            </a:br>
            <a:r>
              <a:rPr sz="1400" dirty="0"/>
              <a:t>       ┌─────────────────────────────────────────────────────────────────────┐</a:t>
            </a:r>
            <a:br>
              <a:rPr sz="1400" dirty="0"/>
            </a:br>
            <a:r>
              <a:rPr sz="1400" dirty="0"/>
              <a:t>       │  prefill mode  →  FA3 tile size / rescale schedule                  │</a:t>
            </a:r>
            <a:br>
              <a:rPr sz="1400" dirty="0"/>
            </a:br>
            <a:r>
              <a:rPr sz="1400" dirty="0"/>
              <a:t>       │  decode  mode  →  </a:t>
            </a:r>
            <a:r>
              <a:rPr sz="1400" dirty="0" err="1"/>
              <a:t>FlashInfer</a:t>
            </a:r>
            <a:r>
              <a:rPr sz="1400" dirty="0"/>
              <a:t> tile size / rescale schedule           │</a:t>
            </a:r>
            <a:br>
              <a:rPr sz="1400" dirty="0"/>
            </a:br>
            <a:r>
              <a:rPr sz="1400" dirty="0"/>
              <a:t>       │                                                                     │</a:t>
            </a:r>
            <a:br>
              <a:rPr sz="1400" dirty="0"/>
            </a:br>
            <a:r>
              <a:rPr sz="1400" dirty="0"/>
              <a:t>       │  Bitwise-identical to FA3 in prefill, </a:t>
            </a:r>
            <a:r>
              <a:rPr sz="1400" dirty="0" err="1"/>
              <a:t>FlashInfer</a:t>
            </a:r>
            <a:r>
              <a:rPr sz="1400" dirty="0"/>
              <a:t> in decode.         │</a:t>
            </a:r>
            <a:br>
              <a:rPr sz="1400" dirty="0"/>
            </a:br>
            <a:r>
              <a:rPr sz="1400" dirty="0"/>
              <a:t>       │  Same kernel binary, different execution paths at tile boundaries</a:t>
            </a:r>
            <a:r>
              <a:rPr sz="1400"/>
              <a:t>.  │</a:t>
            </a:r>
            <a:br>
              <a:rPr sz="1400" dirty="0"/>
            </a:br>
            <a:r>
              <a:rPr sz="1400" dirty="0"/>
              <a:t>       └─────────────────────────────────────────────────────────────────────┘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2" name="Codex Page Number 1">
            <a:extLst>
              <a:ext uri="{FF2B5EF4-FFF2-40B4-BE49-F238E27FC236}">
                <a16:creationId xmlns:a16="http://schemas.microsoft.com/office/drawing/2014/main" id="{ECA98464-8074-A687-E7BC-E120537699A0}"/>
              </a:ext>
            </a:extLst>
          </p:cNvPr>
          <p:cNvSpPr txBox="1"/>
          <p:nvPr/>
        </p:nvSpPr>
        <p:spPr>
          <a:xfrm>
            <a:off x="11963176" y="6498373"/>
            <a:ext cx="128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altLang="zh-CN" sz="2000" dirty="0">
                <a:solidFill>
                  <a:srgbClr val="777777"/>
                </a:solidFill>
                <a:latin typeface="Times New Roman"/>
              </a:rPr>
              <a:t>3</a:t>
            </a:r>
            <a:endParaRPr sz="2000" dirty="0">
              <a:solidFill>
                <a:srgbClr val="777777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302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C17E-36A9-19BD-2899-D4B583D9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mazing Progress of ML/AI">
            <a:extLst>
              <a:ext uri="{FF2B5EF4-FFF2-40B4-BE49-F238E27FC236}">
                <a16:creationId xmlns:a16="http://schemas.microsoft.com/office/drawing/2014/main" id="{1F3A197E-485B-4F78-FF8C-CCAF9BD8C9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85" y="234287"/>
            <a:ext cx="8531268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精度对齐后的Kernel性能挑战及解决方案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060D691-8E5E-661C-60F0-B5A391528D06}"/>
              </a:ext>
            </a:extLst>
          </p:cNvPr>
          <p:cNvSpPr txBox="1"/>
          <p:nvPr/>
        </p:nvSpPr>
        <p:spPr>
          <a:xfrm>
            <a:off x="236002" y="1798785"/>
            <a:ext cx="102870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2300" b="1" dirty="0">
                <a:solidFill>
                  <a:srgbClr val="4472C4"/>
                </a:solidFill>
                <a:latin typeface="Times New Roman"/>
              </a:rPr>
              <a:t>RL</a:t>
            </a:r>
            <a:r>
              <a:rPr lang="zh-CN" altLang="en-US" sz="2300" b="1" dirty="0">
                <a:solidFill>
                  <a:srgbClr val="4472C4"/>
                </a:solidFill>
                <a:latin typeface="Times New Roman"/>
              </a:rPr>
              <a:t>训练时间</a:t>
            </a:r>
            <a:r>
              <a:rPr sz="2300" b="1" dirty="0">
                <a:solidFill>
                  <a:srgbClr val="4472C4"/>
                </a:solidFill>
                <a:latin typeface="Times New Roman"/>
              </a:rPr>
              <a:t> = </a:t>
            </a:r>
            <a:r>
              <a:rPr lang="zh-CN" altLang="en-US" sz="2300" b="1" dirty="0">
                <a:solidFill>
                  <a:srgbClr val="4472C4"/>
                </a:solidFill>
                <a:latin typeface="Times New Roman"/>
              </a:rPr>
              <a:t>每个</a:t>
            </a:r>
            <a:r>
              <a:rPr sz="2300" b="1" dirty="0">
                <a:solidFill>
                  <a:srgbClr val="4472C4"/>
                </a:solidFill>
                <a:latin typeface="Times New Roman"/>
              </a:rPr>
              <a:t>iteration</a:t>
            </a:r>
            <a:r>
              <a:rPr lang="zh-CN" altLang="en-US" sz="2300" b="1" dirty="0">
                <a:solidFill>
                  <a:srgbClr val="4472C4"/>
                </a:solidFill>
                <a:latin typeface="Times New Roman"/>
              </a:rPr>
              <a:t>时间 </a:t>
            </a:r>
            <a:r>
              <a:rPr sz="2300" b="1" dirty="0">
                <a:solidFill>
                  <a:srgbClr val="4472C4"/>
                </a:solidFill>
                <a:latin typeface="Times New Roman"/>
              </a:rPr>
              <a:t>× </a:t>
            </a:r>
            <a:r>
              <a:rPr lang="zh-CN" altLang="en-US" sz="2300" b="1" dirty="0">
                <a:solidFill>
                  <a:srgbClr val="4472C4"/>
                </a:solidFill>
                <a:latin typeface="Times New Roman"/>
              </a:rPr>
              <a:t>收敛所需</a:t>
            </a:r>
            <a:r>
              <a:rPr sz="2300" b="1" dirty="0">
                <a:solidFill>
                  <a:srgbClr val="4472C4"/>
                </a:solidFill>
                <a:latin typeface="Times New Roman"/>
              </a:rPr>
              <a:t>iterations</a:t>
            </a:r>
            <a:r>
              <a:rPr lang="zh-CN" altLang="en-US" sz="2300" b="1" dirty="0">
                <a:solidFill>
                  <a:srgbClr val="4472C4"/>
                </a:solidFill>
                <a:latin typeface="Times New Roman"/>
              </a:rPr>
              <a:t>数量</a:t>
            </a:r>
            <a:endParaRPr sz="2300" b="1" dirty="0">
              <a:solidFill>
                <a:srgbClr val="4472C4"/>
              </a:solidFill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B70B8-C43F-B46A-00B4-C8DD64512F87}"/>
              </a:ext>
            </a:extLst>
          </p:cNvPr>
          <p:cNvSpPr txBox="1"/>
          <p:nvPr/>
        </p:nvSpPr>
        <p:spPr>
          <a:xfrm>
            <a:off x="1146266" y="2438400"/>
            <a:ext cx="9921240" cy="38749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性能挑战</a:t>
            </a: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rgbClr val="C6591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Prefill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" altLang="zh-CN" sz="2000" dirty="0" err="1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" sz="2000" b="0" dirty="0" err="1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ecod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计算范式不同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固定 </a:t>
            </a:r>
            <a:r>
              <a:rPr lang="e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tiling 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可能让</a:t>
            </a:r>
            <a:r>
              <a:rPr lang="en" altLang="zh-C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prefill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decode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其中一条路径变慢。</a:t>
            </a:r>
          </a:p>
          <a:p>
            <a:pPr marL="800100" lvl="1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" altLang="zh-C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ernel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优化的搜索空间大，繁琐费时。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e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Agent-based </a:t>
            </a:r>
            <a:r>
              <a:rPr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优化</a:t>
            </a: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prefill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decode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完全对齐约束下自动搜索实现</a:t>
            </a:r>
            <a:r>
              <a:rPr lang="en-US" altLang="zh-C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prefill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decode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的性能达到最优</a:t>
            </a:r>
            <a:r>
              <a:rPr lang="zh-CN" altLang="en-US" sz="2000" b="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预期收益</a:t>
            </a:r>
            <a:r>
              <a:rPr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2000" b="0" dirty="0">
              <a:solidFill>
                <a:srgbClr val="233041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RL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训练的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iteration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中：预期通过移除 </a:t>
            </a:r>
            <a:r>
              <a:rPr lang="en" altLang="zh-CN" sz="2000" dirty="0" err="1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recompute_logp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实现每个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RL iteration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的提速或不降速。</a:t>
            </a:r>
          </a:p>
          <a:p>
            <a:pPr marL="800100" lvl="1" indent="-342900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端到端训练中，由于训推精度完全一致，使用更少的</a:t>
            </a:r>
            <a:r>
              <a:rPr lang="en" altLang="zh-CN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iteration</a:t>
            </a:r>
            <a:r>
              <a:rPr lang="zh-CN" altLang="en-US" sz="2000" dirty="0">
                <a:solidFill>
                  <a:srgbClr val="23304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使算法收敛。</a:t>
            </a:r>
          </a:p>
        </p:txBody>
      </p:sp>
      <p:sp>
        <p:nvSpPr>
          <p:cNvPr id="5" name="Codex Page Number 1">
            <a:extLst>
              <a:ext uri="{FF2B5EF4-FFF2-40B4-BE49-F238E27FC236}">
                <a16:creationId xmlns:a16="http://schemas.microsoft.com/office/drawing/2014/main" id="{30A37F26-473B-6B32-6CEA-8E6298E80C3E}"/>
              </a:ext>
            </a:extLst>
          </p:cNvPr>
          <p:cNvSpPr txBox="1"/>
          <p:nvPr/>
        </p:nvSpPr>
        <p:spPr>
          <a:xfrm>
            <a:off x="11963176" y="6498373"/>
            <a:ext cx="128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altLang="zh-CN" sz="2000" dirty="0">
                <a:solidFill>
                  <a:srgbClr val="777777"/>
                </a:solidFill>
                <a:latin typeface="Times New Roman"/>
              </a:rPr>
              <a:t>4</a:t>
            </a:r>
            <a:endParaRPr sz="2000" dirty="0">
              <a:solidFill>
                <a:srgbClr val="777777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0329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17BF2-1217-95D5-10F5-0BE27E7FF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mazing Progress of ML/AI">
            <a:extLst>
              <a:ext uri="{FF2B5EF4-FFF2-40B4-BE49-F238E27FC236}">
                <a16:creationId xmlns:a16="http://schemas.microsoft.com/office/drawing/2014/main" id="{0935F005-7C1F-0F58-0495-CB253729D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6985" y="234287"/>
            <a:ext cx="8531268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参考文献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x Page Number 1">
            <a:extLst>
              <a:ext uri="{FF2B5EF4-FFF2-40B4-BE49-F238E27FC236}">
                <a16:creationId xmlns:a16="http://schemas.microsoft.com/office/drawing/2014/main" id="{D9B73D4B-D7BF-1736-266E-D3B349348AAB}"/>
              </a:ext>
            </a:extLst>
          </p:cNvPr>
          <p:cNvSpPr txBox="1"/>
          <p:nvPr/>
        </p:nvSpPr>
        <p:spPr>
          <a:xfrm>
            <a:off x="11963176" y="6498373"/>
            <a:ext cx="128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altLang="zh-CN" sz="2000" dirty="0">
                <a:solidFill>
                  <a:srgbClr val="777777"/>
                </a:solidFill>
                <a:latin typeface="Times New Roman"/>
              </a:rPr>
              <a:t>5</a:t>
            </a:r>
            <a:endParaRPr sz="2000" dirty="0">
              <a:solidFill>
                <a:srgbClr val="777777"/>
              </a:solidFill>
              <a:latin typeface="Times New Roman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EB0B9919-0097-5E8B-B009-05E3662ADB19}"/>
              </a:ext>
            </a:extLst>
          </p:cNvPr>
          <p:cNvSpPr txBox="1"/>
          <p:nvPr/>
        </p:nvSpPr>
        <p:spPr>
          <a:xfrm>
            <a:off x="885069" y="1196648"/>
            <a:ext cx="10918574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  <a:spcAft>
                <a:spcPts val="200"/>
              </a:spcAft>
            </a:pPr>
            <a:endParaRPr lang="en-US" sz="2000" dirty="0">
              <a:latin typeface="Optima" panose="02000503060000020004" pitchFamily="2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latin typeface="Times New Roman"/>
              </a:rPr>
              <a:t>[</a:t>
            </a:r>
            <a:r>
              <a:rPr lang="en-US" sz="2000" dirty="0">
                <a:latin typeface="Times New Roman"/>
              </a:rPr>
              <a:t>1</a:t>
            </a:r>
            <a:r>
              <a:rPr sz="2000" dirty="0">
                <a:latin typeface="Times New Roman"/>
              </a:rPr>
              <a:t>] Yao, Feng, et al. "On the Rollout-Training Mismatch in Modern RL Systems." </a:t>
            </a:r>
            <a:r>
              <a:rPr sz="2000" dirty="0" err="1">
                <a:latin typeface="Times New Roman"/>
              </a:rPr>
              <a:t>NeurIPS</a:t>
            </a:r>
            <a:r>
              <a:rPr sz="2000" dirty="0">
                <a:latin typeface="Times New Roman"/>
              </a:rPr>
              <a:t> 2025 ER Workshop, 2025.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latin typeface="Times New Roman"/>
              </a:rPr>
              <a:t>[</a:t>
            </a:r>
            <a:r>
              <a:rPr lang="en-US" sz="2000" dirty="0">
                <a:latin typeface="Times New Roman"/>
              </a:rPr>
              <a:t>2</a:t>
            </a:r>
            <a:r>
              <a:rPr sz="2000" dirty="0">
                <a:latin typeface="Times New Roman"/>
              </a:rPr>
              <a:t>] Qi, </a:t>
            </a:r>
            <a:r>
              <a:rPr sz="2000" dirty="0" err="1">
                <a:latin typeface="Times New Roman"/>
              </a:rPr>
              <a:t>Penghui</a:t>
            </a:r>
            <a:r>
              <a:rPr sz="2000" dirty="0">
                <a:latin typeface="Times New Roman"/>
              </a:rPr>
              <a:t>, et al. "Defeating the Training-Inference Mismatch via FP16." </a:t>
            </a:r>
            <a:r>
              <a:rPr sz="2000" dirty="0" err="1">
                <a:latin typeface="Times New Roman"/>
              </a:rPr>
              <a:t>arXiv</a:t>
            </a:r>
            <a:r>
              <a:rPr sz="2000" dirty="0">
                <a:latin typeface="Times New Roman"/>
              </a:rPr>
              <a:t> preprint arXiv:2510.26788, 2025.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latin typeface="Times New Roman"/>
              </a:rPr>
              <a:t>[3] Zhong, </a:t>
            </a:r>
            <a:r>
              <a:rPr sz="2000" dirty="0" err="1">
                <a:latin typeface="Times New Roman"/>
              </a:rPr>
              <a:t>Tianle</a:t>
            </a:r>
            <a:r>
              <a:rPr sz="2000" dirty="0">
                <a:latin typeface="Times New Roman"/>
              </a:rPr>
              <a:t>, et al. "Diagnosing Training Inference Mismatch in LLM Reinforcement Learning." </a:t>
            </a:r>
            <a:r>
              <a:rPr sz="2000" dirty="0" err="1">
                <a:latin typeface="Times New Roman"/>
              </a:rPr>
              <a:t>arXiv</a:t>
            </a:r>
            <a:r>
              <a:rPr sz="2000" dirty="0">
                <a:latin typeface="Times New Roman"/>
              </a:rPr>
              <a:t> preprint arXiv:2605.14220, 2026.</a:t>
            </a:r>
          </a:p>
        </p:txBody>
      </p:sp>
    </p:spTree>
    <p:extLst>
      <p:ext uri="{BB962C8B-B14F-4D97-AF65-F5344CB8AC3E}">
        <p14:creationId xmlns:p14="http://schemas.microsoft.com/office/powerpoint/2010/main" val="1658735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17304</TotalTime>
  <Words>629</Words>
  <Application>Microsoft Macintosh PowerPoint</Application>
  <PresentationFormat>宽屏</PresentationFormat>
  <Paragraphs>35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Arial</vt:lpstr>
      <vt:lpstr>Optima</vt:lpstr>
      <vt:lpstr>Times New Roman</vt:lpstr>
      <vt:lpstr>等线</vt:lpstr>
      <vt:lpstr>Office 主题​​</vt:lpstr>
      <vt:lpstr>PowerPoint 演示文稿</vt:lpstr>
      <vt:lpstr>PPO主要计算流程</vt:lpstr>
      <vt:lpstr>Kernel层面保持训推精度一致的方法</vt:lpstr>
      <vt:lpstr>精度对齐后的Kernel性能挑战及解决方案</vt:lpstr>
      <vt:lpstr>参考文献</vt:lpstr>
    </vt:vector>
  </TitlesOfParts>
  <Manager/>
  <Company>北京大学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北大PPT模版（红色）</dc:title>
  <dc:subject/>
  <dc:creator>刘钊 城环20博</dc:creator>
  <cp:keywords/>
  <dc:description/>
  <cp:lastModifiedBy>YAN Ran</cp:lastModifiedBy>
  <cp:revision>449</cp:revision>
  <cp:lastPrinted>2022-04-23T14:17:53Z</cp:lastPrinted>
  <dcterms:created xsi:type="dcterms:W3CDTF">2020-08-05T06:35:16Z</dcterms:created>
  <dcterms:modified xsi:type="dcterms:W3CDTF">2026-07-24T11:11:39Z</dcterms:modified>
  <cp:category/>
</cp:coreProperties>
</file>